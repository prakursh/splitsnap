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FF4F5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SROIE</c:v>
                </c:pt>
                <c:pt idx="1">
                  <c:v>CORD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5.343</c:v>
                </c:pt>
                <c:pt idx="1">
                  <c:v>6.5170000000000003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36-41CD-8E21-8D4382E149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SROIE</c:v>
                </c:pt>
                <c:pt idx="1">
                  <c:v>CORD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0.13100000000000001</c:v>
                </c:pt>
                <c:pt idx="1">
                  <c:v>6.7000000000000004E-2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36-41CD-8E21-8D4382E149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6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Epoch 1</c:v>
                </c:pt>
              </c:strCache>
            </c:strRef>
          </c:tx>
          <c:spPr>
            <a:solidFill>
              <a:srgbClr val="FF4F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Valid JSON</c:v>
                </c:pt>
                <c:pt idx="1">
                  <c:v>Charge recall</c:v>
                </c:pt>
                <c:pt idx="2">
                  <c:v>Charge F1</c:v>
                </c:pt>
                <c:pt idx="3">
                  <c:v>Exact charge set</c:v>
                </c:pt>
                <c:pt idx="4">
                  <c:v>Item names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89.58</c:v>
                </c:pt>
                <c:pt idx="1">
                  <c:v>20</c:v>
                </c:pt>
                <c:pt idx="2">
                  <c:v>32.65</c:v>
                </c:pt>
                <c:pt idx="3">
                  <c:v>58.33</c:v>
                </c:pt>
                <c:pt idx="4">
                  <c:v>59.38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0B-4B0A-8EB7-B9274727A4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Epoch 2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Valid JSON</c:v>
                </c:pt>
                <c:pt idx="1">
                  <c:v>Charge recall</c:v>
                </c:pt>
                <c:pt idx="2">
                  <c:v>Charge F1</c:v>
                </c:pt>
                <c:pt idx="3">
                  <c:v>Exact charge set</c:v>
                </c:pt>
                <c:pt idx="4">
                  <c:v>Item names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98.96</c:v>
                </c:pt>
                <c:pt idx="1">
                  <c:v>92.16</c:v>
                </c:pt>
                <c:pt idx="2">
                  <c:v>91.26</c:v>
                </c:pt>
                <c:pt idx="3">
                  <c:v>92.71</c:v>
                </c:pt>
                <c:pt idx="4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0B-4B0A-8EB7-B9274727A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6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 test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Valid JSON</c:v>
                </c:pt>
                <c:pt idx="1">
                  <c:v>Grand total</c:v>
                </c:pt>
                <c:pt idx="2">
                  <c:v>Subtotal</c:v>
                </c:pt>
                <c:pt idx="3">
                  <c:v>Charge set</c:v>
                </c:pt>
                <c:pt idx="4">
                  <c:v>Charge F1</c:v>
                </c:pt>
                <c:pt idx="5">
                  <c:v>Item names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93.62</c:v>
                </c:pt>
                <c:pt idx="1">
                  <c:v>91.49</c:v>
                </c:pt>
                <c:pt idx="2">
                  <c:v>85.11</c:v>
                </c:pt>
                <c:pt idx="3">
                  <c:v>85.11</c:v>
                </c:pt>
                <c:pt idx="4">
                  <c:v>85.11</c:v>
                </c:pt>
                <c:pt idx="5">
                  <c:v>62.77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EF-4AB6-B52A-86692D751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6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64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</a:rPr>
              <a:t>SplitSnap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13075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DD4BF"/>
                </a:solidFill>
              </a:rPr>
              <a:t>Receipt extraction + correction + fair bill splitting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50749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A working Streamlit app: upload a receipt, run the fine-tuned Donut model, correct the draft, assign items, and split charges proportionally.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337560"/>
            <a:ext cx="1691640" cy="292608"/>
          </a:xfrm>
          <a:prstGeom prst="rect">
            <a:avLst/>
          </a:prstGeom>
          <a:solidFill>
            <a:srgbClr val="2DD4BF"/>
          </a:solidFill>
          <a:ln>
            <a:solidFill>
              <a:srgbClr val="2DD4B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0"/>
                </a:solidFill>
              </a:rPr>
              <a:t>Fine-tuned Donut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3337560"/>
            <a:ext cx="1920240" cy="292608"/>
          </a:xfrm>
          <a:prstGeom prst="rect">
            <a:avLst/>
          </a:prstGeom>
          <a:solidFill>
            <a:srgbClr val="F7C948"/>
          </a:solidFill>
          <a:ln>
            <a:solidFill>
              <a:srgbClr val="F7C948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0"/>
                </a:solidFill>
              </a:rPr>
              <a:t>Manual correction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3337560"/>
            <a:ext cx="1645920" cy="292608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0"/>
                </a:solidFill>
              </a:rPr>
              <a:t>Fair split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4343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C55E"/>
                </a:solidFill>
              </a:rPr>
              <a:t>93.62%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94360" y="4782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valid JSON on test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423160" y="4343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D4BF"/>
                </a:solidFill>
              </a:rPr>
              <a:t>91.49%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423160" y="4782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exact grand total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343400" y="4343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7C948"/>
                </a:solidFill>
              </a:rPr>
              <a:t>85.11%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343400" y="4782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charge F1</a:t>
            </a:r>
            <a:endParaRPr lang="en-US" sz="1020" dirty="0"/>
          </a:p>
        </p:txBody>
      </p:sp>
      <p:pic>
        <p:nvPicPr>
          <p:cNvPr id="15" name="Image 0" descr="/mnt/data/1t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38567"/>
            <a:ext cx="5074920" cy="246082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675120" y="594360"/>
            <a:ext cx="5074920" cy="5349240"/>
          </a:xfrm>
          <a:prstGeom prst="rect">
            <a:avLst/>
          </a:prstGeom>
          <a:solidFill>
            <a:srgbClr val="000000">
              <a:alpha val="0"/>
            </a:srgbClr>
          </a:solidFill>
          <a:ln w="1397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6035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AAB6C8"/>
                </a:solidFill>
              </a:rPr>
              <a:t>Start with the working extraction flow — not the failure case.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What the app does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The system is built around a human-in-the-loop receipt workflow.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1828800" y="2048256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11880" y="2048256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94960" y="2048256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78040" y="2048256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961120" y="2048256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4360" y="1554480"/>
            <a:ext cx="1234440" cy="96012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Upload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receipt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1554480"/>
            <a:ext cx="1188720" cy="960120"/>
          </a:xfrm>
          <a:prstGeom prst="rect">
            <a:avLst/>
          </a:prstGeom>
          <a:solidFill>
            <a:srgbClr val="2DD4BF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Extract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1554480"/>
            <a:ext cx="1188720" cy="960120"/>
          </a:xfrm>
          <a:prstGeom prst="rect">
            <a:avLst/>
          </a:prstGeom>
          <a:solidFill>
            <a:srgbClr val="F7C948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Review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&amp; correct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89320" y="1554480"/>
            <a:ext cx="1188720" cy="96012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Add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people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1554480"/>
            <a:ext cx="1188720" cy="96012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Assign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items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55480" y="1554480"/>
            <a:ext cx="1325880" cy="960120"/>
          </a:xfrm>
          <a:prstGeom prst="rect">
            <a:avLst/>
          </a:prstGeom>
          <a:solidFill>
            <a:srgbClr val="22C55E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Split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explain</a:t>
            </a:r>
            <a:endParaRPr lang="en-US" sz="1250" dirty="0"/>
          </a:p>
        </p:txBody>
      </p:sp>
      <p:pic>
        <p:nvPicPr>
          <p:cNvPr id="16" name="Image 0" descr="/mnt/data/3fftyf.png"/>
          <p:cNvPicPr>
            <a:picLocks noChangeAspect="1"/>
          </p:cNvPicPr>
          <p:nvPr/>
        </p:nvPicPr>
        <p:blipFill>
          <a:blip r:embed="rId3"/>
          <a:srcRect l="3833" r="3833"/>
          <a:stretch/>
        </p:blipFill>
        <p:spPr>
          <a:xfrm>
            <a:off x="685800" y="3154680"/>
            <a:ext cx="5257800" cy="2240280"/>
          </a:xfrm>
          <a:prstGeom prst="rect">
            <a:avLst/>
          </a:prstGeom>
        </p:spPr>
      </p:pic>
      <p:pic>
        <p:nvPicPr>
          <p:cNvPr id="17" name="Image 1" descr="/mnt/data/9gfuy.png"/>
          <p:cNvPicPr>
            <a:picLocks noChangeAspect="1"/>
          </p:cNvPicPr>
          <p:nvPr/>
        </p:nvPicPr>
        <p:blipFill>
          <a:blip r:embed="rId4"/>
          <a:srcRect t="15357" b="15357"/>
          <a:stretch/>
        </p:blipFill>
        <p:spPr>
          <a:xfrm>
            <a:off x="6263640" y="3154680"/>
            <a:ext cx="5257800" cy="22402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7240" y="5632704"/>
            <a:ext cx="5074920" cy="50292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F8FAFC"/>
                </a:solidFill>
              </a:rPr>
              <a:t>Correction is intentionally part of the UI: the model output is a draft, then the app checks the math before splitting.</a:t>
            </a:r>
            <a:endParaRPr lang="en-US" sz="1310" dirty="0"/>
          </a:p>
        </p:txBody>
      </p:sp>
      <p:sp>
        <p:nvSpPr>
          <p:cNvPr id="19" name="Text 15"/>
          <p:cNvSpPr/>
          <p:nvPr/>
        </p:nvSpPr>
        <p:spPr>
          <a:xfrm>
            <a:off x="6355080" y="5632704"/>
            <a:ext cx="5074920" cy="50292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F8FAFC"/>
                </a:solidFill>
              </a:rPr>
              <a:t>The final screen gives an audit trail: items, proportional charges, final total, and optional manual override.</a:t>
            </a:r>
            <a:endParaRPr lang="en-US" sz="1310" dirty="0"/>
          </a:p>
        </p:txBody>
      </p:sp>
      <p:sp>
        <p:nvSpPr>
          <p:cNvPr id="20" name="Text 16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02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System architecture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One learned extractor; deterministic code handles money.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2148840" y="2743200"/>
            <a:ext cx="685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40480" y="2743200"/>
            <a:ext cx="685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32120" y="2743200"/>
            <a:ext cx="685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23760" y="2743200"/>
            <a:ext cx="685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915400" y="2743200"/>
            <a:ext cx="685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8680" y="2148840"/>
            <a:ext cx="1280160" cy="114300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Receipt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image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1005840" cy="1143000"/>
          </a:xfrm>
          <a:prstGeom prst="rect">
            <a:avLst/>
          </a:prstGeom>
          <a:solidFill>
            <a:srgbClr val="2DD4BF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Fine-tuned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Donut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1005840" cy="114300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Bill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JSON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2148840"/>
            <a:ext cx="1005840" cy="1143000"/>
          </a:xfrm>
          <a:prstGeom prst="rect">
            <a:avLst/>
          </a:prstGeom>
          <a:solidFill>
            <a:srgbClr val="F7C948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Manual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correction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9560" y="2148840"/>
            <a:ext cx="1005840" cy="114300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Split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0" y="2148840"/>
            <a:ext cx="1417320" cy="1143000"/>
          </a:xfrm>
          <a:prstGeom prst="rect">
            <a:avLst/>
          </a:prstGeom>
          <a:solidFill>
            <a:srgbClr val="22C55E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Totals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explanation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060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Model output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4251960"/>
            <a:ext cx="2834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80" dirty="0">
                <a:solidFill>
                  <a:srgbClr val="F8FAFC"/>
                </a:solidFill>
              </a:rPr>
              <a:t>items, quantities, prices</a:t>
            </a:r>
            <a:endParaRPr lang="en-US" sz="1280" dirty="0"/>
          </a:p>
          <a:p>
            <a:r>
              <a:rPr lang="en-US" sz="1280" dirty="0">
                <a:solidFill>
                  <a:srgbClr val="F8FAFC"/>
                </a:solidFill>
              </a:rPr>
              <a:t>tax / service charge / discount</a:t>
            </a:r>
            <a:endParaRPr lang="en-US" sz="1280" dirty="0"/>
          </a:p>
          <a:p>
            <a:r>
              <a:rPr lang="en-US" sz="1280" dirty="0">
                <a:solidFill>
                  <a:srgbClr val="F8FAFC"/>
                </a:solidFill>
              </a:rPr>
              <a:t>subtotal + grand total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89788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C948"/>
                </a:solidFill>
              </a:rPr>
              <a:t>Correction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4251960"/>
            <a:ext cx="2834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80" dirty="0">
                <a:solidFill>
                  <a:srgbClr val="F8FAFC"/>
                </a:solidFill>
              </a:rPr>
              <a:t>editable tables</a:t>
            </a:r>
            <a:endParaRPr lang="en-US" sz="1280" dirty="0"/>
          </a:p>
          <a:p>
            <a:r>
              <a:rPr lang="en-US" sz="1280" dirty="0">
                <a:solidFill>
                  <a:srgbClr val="F8FAFC"/>
                </a:solidFill>
              </a:rPr>
              <a:t>math consistency warning</a:t>
            </a:r>
            <a:endParaRPr lang="en-US" sz="1280" dirty="0"/>
          </a:p>
          <a:p>
            <a:r>
              <a:rPr lang="en-US" sz="1280" dirty="0">
                <a:solidFill>
                  <a:srgbClr val="F8FAFC"/>
                </a:solidFill>
              </a:rPr>
              <a:t>invalid JSON recovery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7325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Split engine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32520" y="4251960"/>
            <a:ext cx="25603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80" dirty="0">
                <a:solidFill>
                  <a:srgbClr val="F8FAFC"/>
                </a:solidFill>
              </a:rPr>
              <a:t>equal shared-item split</a:t>
            </a:r>
            <a:endParaRPr lang="en-US" sz="1280" dirty="0"/>
          </a:p>
          <a:p>
            <a:r>
              <a:rPr lang="en-US" sz="1280" dirty="0">
                <a:solidFill>
                  <a:srgbClr val="F8FAFC"/>
                </a:solidFill>
              </a:rPr>
              <a:t>proportional charges</a:t>
            </a:r>
            <a:endParaRPr lang="en-US" sz="1280" dirty="0"/>
          </a:p>
          <a:p>
            <a:r>
              <a:rPr lang="en-US" sz="1280" dirty="0">
                <a:solidFill>
                  <a:srgbClr val="F8FAFC"/>
                </a:solidFill>
              </a:rPr>
              <a:t>Decimal rounding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How the model was trained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Two-stage fine-tuning: general receipt reading first, SplitSnap schema second.</a:t>
            </a:r>
            <a:endParaRPr lang="en-US" sz="133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645920" cy="77724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Donut-base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77440" y="1901952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71800" y="1353312"/>
            <a:ext cx="1417320" cy="1097280"/>
          </a:xfrm>
          <a:prstGeom prst="rect">
            <a:avLst/>
          </a:prstGeom>
          <a:solidFill>
            <a:srgbClr val="60A5FA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Stage 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SROIE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901952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983480" y="1353312"/>
            <a:ext cx="1417320" cy="1097280"/>
          </a:xfrm>
          <a:prstGeom prst="rect">
            <a:avLst/>
          </a:prstGeom>
          <a:solidFill>
            <a:srgbClr val="A78BFA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Stage 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CORD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901952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995160" y="1353312"/>
            <a:ext cx="1600200" cy="1097280"/>
          </a:xfrm>
          <a:prstGeom prst="rect">
            <a:avLst/>
          </a:prstGeom>
          <a:solidFill>
            <a:srgbClr val="F7C948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Epoch 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charge-focused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0" y="1901952"/>
            <a:ext cx="5943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89720" y="1353312"/>
            <a:ext cx="1508760" cy="1097280"/>
          </a:xfrm>
          <a:prstGeom prst="rect">
            <a:avLst/>
          </a:prstGeom>
          <a:solidFill>
            <a:srgbClr val="22C55E"/>
          </a:solidFill>
          <a:ln>
            <a:solidFill>
              <a:srgbClr val="334155">
                <a:alpha val="7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Final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020"/>
                </a:solidFill>
              </a:rPr>
              <a:t>checkpoint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127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493008"/>
            <a:ext cx="4754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F8FAFC"/>
                </a:solidFill>
              </a:rPr>
              <a:t>normalized CORD into items + charges + totals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parsed messy prices like 75,000 / 25.000 / 8.500,00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discount fields normalized as negative values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filtered inconsistent receipts and &gt;768-token targets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Final dataset sizes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429000"/>
            <a:ext cx="196596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</a:rPr>
              <a:t>CORD train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8366760" y="3429000"/>
            <a:ext cx="91440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2C55E"/>
                </a:solidFill>
              </a:rPr>
              <a:t>764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400800" y="3813048"/>
            <a:ext cx="196596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</a:rPr>
              <a:t>CORD val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366760" y="3813048"/>
            <a:ext cx="91440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2C55E"/>
                </a:solidFill>
              </a:rPr>
              <a:t>96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400800" y="4197096"/>
            <a:ext cx="196596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</a:rPr>
              <a:t>CORD test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8366760" y="4197096"/>
            <a:ext cx="91440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2C55E"/>
                </a:solidFill>
              </a:rPr>
              <a:t>94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400800" y="4581144"/>
            <a:ext cx="196596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</a:rPr>
              <a:t>SROIE train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8366760" y="4581144"/>
            <a:ext cx="91440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2C55E"/>
                </a:solidFill>
              </a:rPr>
              <a:t>886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400800" y="4965192"/>
            <a:ext cx="196596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</a:rPr>
              <a:t>SROIE val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366760" y="4965192"/>
            <a:ext cx="914400" cy="310896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2C55E"/>
                </a:solidFill>
              </a:rPr>
              <a:t>100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731520" y="5669280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6C8"/>
                </a:solidFill>
              </a:rPr>
              <a:t>Training config: 1280×960 images, CORD max length 768, FP16, AdamW, batch 1 + grad accumulation 4, Tesla T4 peak ≈ 5.41 GB.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Training results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Loss dropped sharply, then validation generation showed exactly what needed improvement.</a:t>
            </a:r>
            <a:endParaRPr lang="en-US" sz="133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353312"/>
          <a:ext cx="50749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800600"/>
            <a:ext cx="4754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8FAFC"/>
                </a:solidFill>
              </a:rPr>
              <a:t>Loss was not the final decision metric: we also generated full JSON on validation receipts and measured charge precision/recall/F1.</a:t>
            </a:r>
            <a:endParaRPr lang="en-US" sz="1420" dirty="0"/>
          </a:p>
        </p:txBody>
      </p:sp>
      <p:pic>
        <p:nvPicPr>
          <p:cNvPr id="7" name="Image 0" descr="/mnt/data/sroie_loss_after_t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51820"/>
            <a:ext cx="2514600" cy="999680"/>
          </a:xfrm>
          <a:prstGeom prst="rect">
            <a:avLst/>
          </a:prstGeom>
        </p:spPr>
      </p:pic>
      <p:pic>
        <p:nvPicPr>
          <p:cNvPr id="8" name="Image 1" descr="/mnt/data/cord_after_t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794414"/>
            <a:ext cx="2514600" cy="912556"/>
          </a:xfrm>
          <a:prstGeom prst="rect">
            <a:avLst/>
          </a:prstGeom>
        </p:spPr>
      </p:pic>
      <p:pic>
        <p:nvPicPr>
          <p:cNvPr id="9" name="Image 2" descr="/mnt/data/cord_poc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93" y="4096512"/>
            <a:ext cx="1188535" cy="10972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8116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4F5E"/>
                </a:solidFill>
              </a:rPr>
              <a:t>6.52</a:t>
            </a:r>
            <a:endParaRPr lang="en-US" sz="2500" dirty="0"/>
          </a:p>
        </p:txBody>
      </p:sp>
      <p:sp>
        <p:nvSpPr>
          <p:cNvPr id="11" name="Text 5"/>
          <p:cNvSpPr/>
          <p:nvPr/>
        </p:nvSpPr>
        <p:spPr>
          <a:xfrm>
            <a:off x="9281160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CORD before training</a:t>
            </a:r>
            <a:endParaRPr lang="en-US" sz="1020" dirty="0"/>
          </a:p>
        </p:txBody>
      </p:sp>
      <p:sp>
        <p:nvSpPr>
          <p:cNvPr id="12" name="Text 6"/>
          <p:cNvSpPr/>
          <p:nvPr/>
        </p:nvSpPr>
        <p:spPr>
          <a:xfrm>
            <a:off x="9281160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D4BF"/>
                </a:solidFill>
              </a:rPr>
              <a:t>0.055</a:t>
            </a:r>
            <a:endParaRPr lang="en-US" sz="2500" dirty="0"/>
          </a:p>
        </p:txBody>
      </p:sp>
      <p:sp>
        <p:nvSpPr>
          <p:cNvPr id="13" name="Text 7"/>
          <p:cNvSpPr/>
          <p:nvPr/>
        </p:nvSpPr>
        <p:spPr>
          <a:xfrm>
            <a:off x="9281160" y="31821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CORD epoch 1 val loss</a:t>
            </a:r>
            <a:endParaRPr lang="en-US" sz="1020" dirty="0"/>
          </a:p>
        </p:txBody>
      </p:sp>
      <p:sp>
        <p:nvSpPr>
          <p:cNvPr id="14" name="Text 8"/>
          <p:cNvSpPr/>
          <p:nvPr/>
        </p:nvSpPr>
        <p:spPr>
          <a:xfrm>
            <a:off x="9281160" y="4023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C55E"/>
                </a:solidFill>
              </a:rPr>
              <a:t>0.045</a:t>
            </a:r>
            <a:endParaRPr lang="en-US" sz="2500" dirty="0"/>
          </a:p>
        </p:txBody>
      </p:sp>
      <p:sp>
        <p:nvSpPr>
          <p:cNvPr id="15" name="Text 9"/>
          <p:cNvSpPr/>
          <p:nvPr/>
        </p:nvSpPr>
        <p:spPr>
          <a:xfrm>
            <a:off x="9281160" y="44622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charge-focused epoch 2 loss</a:t>
            </a:r>
            <a:endParaRPr lang="en-US" sz="1020" dirty="0"/>
          </a:p>
        </p:txBody>
      </p:sp>
      <p:sp>
        <p:nvSpPr>
          <p:cNvPr id="16" name="Text 10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05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Why charge-focused epoch 2 won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Epoch 1 learned totals, but often predicted empty charge lists.</a:t>
            </a:r>
            <a:endParaRPr lang="en-US" sz="133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94360" y="1389888"/>
          <a:ext cx="6537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C55E"/>
                </a:solidFill>
              </a:rPr>
              <a:t>20% → 92%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589520" y="1920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charge recall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7589520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D4BF"/>
                </a:solidFill>
              </a:rPr>
              <a:t>32.65% → 91.26%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589520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charge F1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589520" y="4279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7C948"/>
                </a:solidFill>
              </a:rPr>
              <a:t>89.58% → 98.96%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589520" y="47183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valid JSON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AAB6C8"/>
                </a:solidFill>
              </a:rPr>
              <a:t>Design decision: oversample charge-bearing receipts for epoch 2 instead of blindly training more epochs.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Final held-out CORD test performance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Selected epoch 2 was evaluated once on 94 untouched CORD test receipts.</a:t>
            </a:r>
            <a:endParaRPr lang="en-US" sz="133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325880"/>
          <a:ext cx="6537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/mnt/data/final epoch2 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988" y="1325880"/>
            <a:ext cx="3051544" cy="1874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3520440"/>
            <a:ext cx="3749040" cy="114300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F8FAFC"/>
                </a:solidFill>
              </a:rPr>
              <a:t>We notice that totals and charges are strong but item text is weaker. That is why the UI must support correction before money is split.</a:t>
            </a:r>
            <a:endParaRPr lang="en-US" sz="1310" dirty="0"/>
          </a:p>
        </p:txBody>
      </p:sp>
      <p:sp>
        <p:nvSpPr>
          <p:cNvPr id="8" name="Text 4"/>
          <p:cNvSpPr/>
          <p:nvPr/>
        </p:nvSpPr>
        <p:spPr>
          <a:xfrm>
            <a:off x="7790688" y="5074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C55E"/>
                </a:solidFill>
              </a:rPr>
              <a:t>85.11%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7790688" y="55138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exact charge set</a:t>
            </a:r>
            <a:endParaRPr lang="en-US" sz="1020" dirty="0"/>
          </a:p>
        </p:txBody>
      </p:sp>
      <p:sp>
        <p:nvSpPr>
          <p:cNvPr id="10" name="Text 6"/>
          <p:cNvSpPr/>
          <p:nvPr/>
        </p:nvSpPr>
        <p:spPr>
          <a:xfrm>
            <a:off x="9646920" y="5074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7C948"/>
                </a:solidFill>
              </a:rPr>
              <a:t>91.49%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9646920" y="5513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grand total exact</a:t>
            </a:r>
            <a:endParaRPr lang="en-US" sz="1020" dirty="0"/>
          </a:p>
        </p:txBody>
      </p:sp>
      <p:sp>
        <p:nvSpPr>
          <p:cNvPr id="12" name="Text 8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07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Correction UI: model output becomes an editable draft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The app keeps the workflow usable even when extraction is imperfect.</a:t>
            </a:r>
            <a:endParaRPr lang="en-US" sz="1330" dirty="0"/>
          </a:p>
        </p:txBody>
      </p:sp>
      <p:pic>
        <p:nvPicPr>
          <p:cNvPr id="5" name="Image 0" descr="/mnt/data/2htrhr.png"/>
          <p:cNvPicPr>
            <a:picLocks noChangeAspect="1"/>
          </p:cNvPicPr>
          <p:nvPr/>
        </p:nvPicPr>
        <p:blipFill>
          <a:blip r:embed="rId3"/>
          <a:srcRect l="24073" r="24073"/>
          <a:stretch/>
        </p:blipFill>
        <p:spPr>
          <a:xfrm>
            <a:off x="594360" y="1234440"/>
            <a:ext cx="5532120" cy="4434840"/>
          </a:xfrm>
          <a:prstGeom prst="rect">
            <a:avLst/>
          </a:prstGeom>
        </p:spPr>
      </p:pic>
      <p:pic>
        <p:nvPicPr>
          <p:cNvPr id="6" name="Image 1" descr="/mnt/data/3fftyf.png"/>
          <p:cNvPicPr>
            <a:picLocks noChangeAspect="1"/>
          </p:cNvPicPr>
          <p:nvPr/>
        </p:nvPicPr>
        <p:blipFill>
          <a:blip r:embed="rId4"/>
          <a:srcRect l="5643" r="5643"/>
          <a:stretch/>
        </p:blipFill>
        <p:spPr>
          <a:xfrm>
            <a:off x="6355080" y="1234440"/>
            <a:ext cx="5257800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Implemented safeguards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92240" y="4251960"/>
            <a:ext cx="4892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20" dirty="0">
                <a:solidFill>
                  <a:srgbClr val="F8FAFC"/>
                </a:solidFill>
              </a:rPr>
              <a:t>editable item/charge/total tables</a:t>
            </a:r>
            <a:endParaRPr lang="en-US" sz="1320" dirty="0"/>
          </a:p>
          <a:p>
            <a:r>
              <a:rPr lang="en-US" sz="1320" dirty="0">
                <a:solidFill>
                  <a:srgbClr val="F8FAFC"/>
                </a:solidFill>
              </a:rPr>
              <a:t>invalid JSON falls back to manual entry</a:t>
            </a:r>
            <a:endParaRPr lang="en-US" sz="1320" dirty="0"/>
          </a:p>
          <a:p>
            <a:r>
              <a:rPr lang="en-US" sz="1320" dirty="0">
                <a:solidFill>
                  <a:srgbClr val="F8FAFC"/>
                </a:solidFill>
              </a:rPr>
              <a:t>missing discount / tax / fee detector</a:t>
            </a:r>
            <a:endParaRPr lang="en-US" sz="1320" dirty="0"/>
          </a:p>
          <a:p>
            <a:r>
              <a:rPr lang="en-US" sz="1320" dirty="0">
                <a:solidFill>
                  <a:srgbClr val="F8FAFC"/>
                </a:solidFill>
              </a:rPr>
              <a:t>Save Corrections freezes a clean bill before splitting</a:t>
            </a:r>
            <a:endParaRPr lang="en-US" sz="1320" dirty="0"/>
          </a:p>
        </p:txBody>
      </p:sp>
      <p:sp>
        <p:nvSpPr>
          <p:cNvPr id="9" name="Text 5"/>
          <p:cNvSpPr/>
          <p:nvPr/>
        </p:nvSpPr>
        <p:spPr>
          <a:xfrm>
            <a:off x="777240" y="587044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AAB6C8"/>
                </a:solidFill>
              </a:rPr>
              <a:t>Example: the UI detected a ₹19,000 missing negative adjustment; adding Discount = -19000 made the bill mathematically consistent.</a:t>
            </a:r>
            <a:endParaRPr lang="en-US" sz="1320" dirty="0"/>
          </a:p>
        </p:txBody>
      </p:sp>
      <p:sp>
        <p:nvSpPr>
          <p:cNvPr id="10" name="Text 6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08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Fair split + explanation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After correction, splitting is deterministic and auditable.</a:t>
            </a:r>
            <a:endParaRPr lang="en-US" sz="1330" dirty="0"/>
          </a:p>
        </p:txBody>
      </p:sp>
      <p:pic>
        <p:nvPicPr>
          <p:cNvPr id="5" name="Image 0" descr="/mnt/data/9gfu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64865"/>
            <a:ext cx="5486400" cy="33739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Split logic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37960" y="1828800"/>
            <a:ext cx="48006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F8FAFC"/>
                </a:solidFill>
              </a:rPr>
              <a:t>items assigned to one or more people</a:t>
            </a:r>
            <a:endParaRPr lang="en-US" sz="1350" dirty="0"/>
          </a:p>
          <a:p>
            <a:r>
              <a:rPr lang="en-US" sz="1350" dirty="0">
                <a:solidFill>
                  <a:srgbClr val="F8FAFC"/>
                </a:solidFill>
              </a:rPr>
              <a:t>shared items split equally</a:t>
            </a:r>
            <a:endParaRPr lang="en-US" sz="1350" dirty="0"/>
          </a:p>
          <a:p>
            <a:r>
              <a:rPr lang="en-US" sz="1350" dirty="0">
                <a:solidFill>
                  <a:srgbClr val="F8FAFC"/>
                </a:solidFill>
              </a:rPr>
              <a:t>tax/service/discount allocated by consumption share</a:t>
            </a:r>
            <a:endParaRPr lang="en-US" sz="1350" dirty="0"/>
          </a:p>
          <a:p>
            <a:r>
              <a:rPr lang="en-US" sz="1350" dirty="0">
                <a:solidFill>
                  <a:srgbClr val="F8FAFC"/>
                </a:solidFill>
              </a:rPr>
              <a:t>Decimal rounding keeps totals reconciled</a:t>
            </a:r>
            <a:endParaRPr lang="en-US" sz="1350" dirty="0"/>
          </a:p>
          <a:p>
            <a:r>
              <a:rPr lang="en-US" sz="1350" dirty="0">
                <a:solidFill>
                  <a:srgbClr val="F8FAFC"/>
                </a:solidFill>
              </a:rPr>
              <a:t>manual override is checked against bill total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37960" y="4069080"/>
            <a:ext cx="4480560" cy="96012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F8FAFC"/>
                </a:solidFill>
              </a:rPr>
              <a:t>The explanation shows exactly why each person pays what they pay: item shares + bill-level charges + final total.</a:t>
            </a:r>
            <a:endParaRPr lang="en-US" sz="1310" dirty="0"/>
          </a:p>
        </p:txBody>
      </p:sp>
      <p:sp>
        <p:nvSpPr>
          <p:cNvPr id="9" name="Text 6"/>
          <p:cNvSpPr/>
          <p:nvPr/>
        </p:nvSpPr>
        <p:spPr>
          <a:xfrm>
            <a:off x="6720840" y="5257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C55E"/>
                </a:solidFill>
              </a:rPr>
              <a:t>✓ matches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720840" y="56967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example override check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9144000" y="5257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7C948"/>
                </a:solidFill>
              </a:rPr>
              <a:t>₹11,660.85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9144000" y="5696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AAB6C8"/>
                </a:solidFill>
              </a:rPr>
              <a:t>bob total in demo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Known limits and next steps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6C8"/>
                </a:solidFill>
              </a:rPr>
              <a:t>The failure case is a reason for the correction workflow, not the opening story.</a:t>
            </a:r>
            <a:endParaRPr lang="en-US" sz="1330" dirty="0"/>
          </a:p>
        </p:txBody>
      </p:sp>
      <p:pic>
        <p:nvPicPr>
          <p:cNvPr id="5" name="Image 0" descr="/mnt/data/yfcydc.png"/>
          <p:cNvPicPr>
            <a:picLocks noChangeAspect="1"/>
          </p:cNvPicPr>
          <p:nvPr/>
        </p:nvPicPr>
        <p:blipFill>
          <a:blip r:embed="rId3"/>
          <a:srcRect l="19990" r="19990"/>
          <a:stretch/>
        </p:blipFill>
        <p:spPr>
          <a:xfrm>
            <a:off x="594360" y="1234440"/>
            <a:ext cx="470916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0" y="1325880"/>
            <a:ext cx="5257800" cy="100584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F8FAFC"/>
                </a:solidFill>
              </a:rPr>
              <a:t>Out-of-distribution receipts can still break extraction: foreign currency, unusual layouts, headers read as items, or malformed JSON.</a:t>
            </a:r>
            <a:endParaRPr lang="en-US" sz="1310" dirty="0"/>
          </a:p>
        </p:txBody>
      </p:sp>
      <p:sp>
        <p:nvSpPr>
          <p:cNvPr id="7" name="Text 4"/>
          <p:cNvSpPr/>
          <p:nvPr/>
        </p:nvSpPr>
        <p:spPr>
          <a:xfrm>
            <a:off x="5715000" y="2606040"/>
            <a:ext cx="5257800" cy="1005840"/>
          </a:xfrm>
          <a:prstGeom prst="rect">
            <a:avLst/>
          </a:prstGeom>
          <a:solidFill>
            <a:srgbClr val="182033"/>
          </a:solidFill>
          <a:ln>
            <a:solidFill>
              <a:srgbClr val="334155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F8FAFC"/>
                </a:solidFill>
              </a:rPr>
              <a:t>Current product response: do not block the user. Show raw output, allow correction, run consistency checks, then split.</a:t>
            </a:r>
            <a:endParaRPr lang="en-US" sz="1310" dirty="0"/>
          </a:p>
        </p:txBody>
      </p:sp>
      <p:sp>
        <p:nvSpPr>
          <p:cNvPr id="8" name="Text 5"/>
          <p:cNvSpPr/>
          <p:nvPr/>
        </p:nvSpPr>
        <p:spPr>
          <a:xfrm>
            <a:off x="571500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</a:rPr>
              <a:t>Next improvements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06440" y="4443984"/>
            <a:ext cx="49377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F8FAFC"/>
                </a:solidFill>
              </a:rPr>
              <a:t>fine-tune on Indian/local receipts</a:t>
            </a:r>
            <a:endParaRPr lang="en-US" sz="1340" dirty="0"/>
          </a:p>
          <a:p>
            <a:r>
              <a:rPr lang="en-US" sz="1340" dirty="0">
                <a:solidFill>
                  <a:srgbClr val="F8FAFC"/>
                </a:solidFill>
              </a:rPr>
              <a:t>better JSON repair and confidence flags</a:t>
            </a:r>
            <a:endParaRPr lang="en-US" sz="1340" dirty="0"/>
          </a:p>
          <a:p>
            <a:r>
              <a:rPr lang="en-US" sz="1340" dirty="0">
                <a:solidFill>
                  <a:srgbClr val="F8FAFC"/>
                </a:solidFill>
              </a:rPr>
              <a:t>mobile UI and photo augmentation</a:t>
            </a:r>
            <a:endParaRPr lang="en-US" sz="1340" dirty="0"/>
          </a:p>
          <a:p>
            <a:r>
              <a:rPr lang="en-US" sz="1340" dirty="0">
                <a:solidFill>
                  <a:srgbClr val="F8FAFC"/>
                </a:solidFill>
              </a:rPr>
              <a:t>export/share final splits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777240" y="587044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Bottom line: ML extracts the draft; product design makes it safe to use for money.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6510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6C8"/>
                </a:solidFill>
              </a:rPr>
              <a:t>SplitSnap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75720" y="65105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6C8"/>
                </a:solidFill>
              </a:rPr>
              <a:t>10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" y="6428232"/>
            <a:ext cx="11384280" cy="0"/>
          </a:xfrm>
          <a:prstGeom prst="line">
            <a:avLst/>
          </a:prstGeom>
          <a:noFill/>
          <a:ln w="8890">
            <a:solidFill>
              <a:srgbClr val="33415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SplitSnap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SplitSnap</dc:title>
  <dc:subject>SplitSnap project presentation</dc:subject>
  <dc:creator>OpenAI</dc:creator>
  <cp:lastModifiedBy>DELL</cp:lastModifiedBy>
  <cp:revision>2</cp:revision>
  <dcterms:created xsi:type="dcterms:W3CDTF">2026-10-10T10:25:28Z</dcterms:created>
  <dcterms:modified xsi:type="dcterms:W3CDTF">2026-10-10T10:29:38Z</dcterms:modified>
</cp:coreProperties>
</file>